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6d0a5f3876404a" /><Relationship Type="http://schemas.openxmlformats.org/officeDocument/2006/relationships/extended-properties" Target="/docProps/app.xml" Id="R73a92e10329e4487" /><Relationship Type="http://schemas.openxmlformats.org/officeDocument/2006/relationships/officeDocument" Target="/ppt/presentation.xml" Id="R1fbcacc4f939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ad2a71856446e7"/>
  </p:sldMasterIdLst>
  <p:notesMasterIdLst>
    <p:notesMasterId xmlns:r="http://schemas.openxmlformats.org/officeDocument/2006/relationships" r:id="R3fd51ed61da14594"/>
  </p:notesMasterIdLst>
  <p:sldIdLst>
    <p:sldId xmlns:r="http://schemas.openxmlformats.org/officeDocument/2006/relationships" id="256" r:id="R878b13e7e70c432b"/>
    <p:sldId xmlns:r="http://schemas.openxmlformats.org/officeDocument/2006/relationships" id="257" r:id="R34abef2434814dba"/>
    <p:sldId xmlns:r="http://schemas.openxmlformats.org/officeDocument/2006/relationships" id="258" r:id="Rad71d9254eaf4352"/>
    <p:sldId xmlns:r="http://schemas.openxmlformats.org/officeDocument/2006/relationships" id="259" r:id="R4fde37dc299f4b63"/>
    <p:sldId xmlns:r="http://schemas.openxmlformats.org/officeDocument/2006/relationships" id="260" r:id="Ra93800aebf6a480f"/>
    <p:sldId xmlns:r="http://schemas.openxmlformats.org/officeDocument/2006/relationships" id="261" r:id="Rb43387580118471c"/>
    <p:sldId xmlns:r="http://schemas.openxmlformats.org/officeDocument/2006/relationships" id="262" r:id="Rf148de905e4c4ee9"/>
    <p:sldId xmlns:r="http://schemas.openxmlformats.org/officeDocument/2006/relationships" id="263" r:id="R263189a1ded84563"/>
    <p:sldId xmlns:r="http://schemas.openxmlformats.org/officeDocument/2006/relationships" id="264" r:id="R0dcf92d2d2aa490c"/>
    <p:sldId xmlns:r="http://schemas.openxmlformats.org/officeDocument/2006/relationships" id="265" r:id="R648f6a2caa9e4fb7"/>
    <p:sldId xmlns:r="http://schemas.openxmlformats.org/officeDocument/2006/relationships" id="266" r:id="R4e36aead90e7422d"/>
    <p:sldId xmlns:r="http://schemas.openxmlformats.org/officeDocument/2006/relationships" id="267" r:id="R93c00af765474a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90d7dfd27248c3" /><Relationship Type="http://schemas.openxmlformats.org/officeDocument/2006/relationships/slideMaster" Target="/ppt/slideMasters/slideMaster1.xml" Id="Rf2ad2a71856446e7" /><Relationship Type="http://schemas.openxmlformats.org/officeDocument/2006/relationships/notesMaster" Target="/ppt/notesMasters/notesMaster1.xml" Id="R3fd51ed61da14594" /><Relationship Type="http://schemas.openxmlformats.org/officeDocument/2006/relationships/presProps" Target="/ppt/presProps.xml" Id="Rcaa99fd89fd0484e" /><Relationship Type="http://schemas.openxmlformats.org/officeDocument/2006/relationships/tableStyles" Target="/ppt/tableStyles.xml" Id="Rf6d0e1e2a4064f30" /><Relationship Type="http://schemas.openxmlformats.org/officeDocument/2006/relationships/slide" Target="/ppt/slides/slide1.xml" Id="R878b13e7e70c432b" /><Relationship Type="http://schemas.openxmlformats.org/officeDocument/2006/relationships/slide" Target="/ppt/slides/slide2.xml" Id="R34abef2434814dba" /><Relationship Type="http://schemas.openxmlformats.org/officeDocument/2006/relationships/slide" Target="/ppt/slides/slide3.xml" Id="Rad71d9254eaf4352" /><Relationship Type="http://schemas.openxmlformats.org/officeDocument/2006/relationships/slide" Target="/ppt/slides/slide4.xml" Id="R4fde37dc299f4b63" /><Relationship Type="http://schemas.openxmlformats.org/officeDocument/2006/relationships/slide" Target="/ppt/slides/slide5.xml" Id="Ra93800aebf6a480f" /><Relationship Type="http://schemas.openxmlformats.org/officeDocument/2006/relationships/slide" Target="/ppt/slides/slide6.xml" Id="Rb43387580118471c" /><Relationship Type="http://schemas.openxmlformats.org/officeDocument/2006/relationships/slide" Target="/ppt/slides/slide7.xml" Id="Rf148de905e4c4ee9" /><Relationship Type="http://schemas.openxmlformats.org/officeDocument/2006/relationships/slide" Target="/ppt/slides/slide8.xml" Id="R263189a1ded84563" /><Relationship Type="http://schemas.openxmlformats.org/officeDocument/2006/relationships/slide" Target="/ppt/slides/slide9.xml" Id="R0dcf92d2d2aa490c" /><Relationship Type="http://schemas.openxmlformats.org/officeDocument/2006/relationships/slide" Target="/ppt/slides/slide10.xml" Id="R648f6a2caa9e4fb7" /><Relationship Type="http://schemas.openxmlformats.org/officeDocument/2006/relationships/slide" Target="/ppt/slides/slide11.xml" Id="R4e36aead90e7422d" /><Relationship Type="http://schemas.openxmlformats.org/officeDocument/2006/relationships/slide" Target="/ppt/slides/slide12.xml" Id="R93c00af765474a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854216b5943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162ebdc3a44da9" /><Relationship Type="http://schemas.openxmlformats.org/officeDocument/2006/relationships/notesMaster" Target="/ppt/notesMasters/notesMaster1.xml" Id="Ra514fa23b8ba4f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6a471c08ac4584" /><Relationship Type="http://schemas.openxmlformats.org/officeDocument/2006/relationships/notesMaster" Target="/ppt/notesMasters/notesMaster1.xml" Id="R0849803e02f548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7a8bf8f6a54909" /><Relationship Type="http://schemas.openxmlformats.org/officeDocument/2006/relationships/notesMaster" Target="/ppt/notesMasters/notesMaster1.xml" Id="Re4934c572bbd4e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748fda701c4b07" /><Relationship Type="http://schemas.openxmlformats.org/officeDocument/2006/relationships/notesMaster" Target="/ppt/notesMasters/notesMaster1.xml" Id="Rdf154dd9c0c848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0e0d31e4be49bd" /><Relationship Type="http://schemas.openxmlformats.org/officeDocument/2006/relationships/notesMaster" Target="/ppt/notesMasters/notesMaster1.xml" Id="R570c3c5a85b14b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5ced604a7f4e31" /><Relationship Type="http://schemas.openxmlformats.org/officeDocument/2006/relationships/notesMaster" Target="/ppt/notesMasters/notesMaster1.xml" Id="R7f5081599db640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c4a1610998454a" /><Relationship Type="http://schemas.openxmlformats.org/officeDocument/2006/relationships/notesMaster" Target="/ppt/notesMasters/notesMaster1.xml" Id="R5e4098e3ba064f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b8acc5622b4c90" /><Relationship Type="http://schemas.openxmlformats.org/officeDocument/2006/relationships/notesMaster" Target="/ppt/notesMasters/notesMaster1.xml" Id="R69e599005b2a4f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5f2ab30ac74784" /><Relationship Type="http://schemas.openxmlformats.org/officeDocument/2006/relationships/notesMaster" Target="/ppt/notesMasters/notesMaster1.xml" Id="R0b4760150bf545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d1c1fd28384c0f" /><Relationship Type="http://schemas.openxmlformats.org/officeDocument/2006/relationships/notesMaster" Target="/ppt/notesMasters/notesMaster1.xml" Id="Ra1244dc574124b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8959e40d484b8d" /><Relationship Type="http://schemas.openxmlformats.org/officeDocument/2006/relationships/notesMaster" Target="/ppt/notesMasters/notesMaster1.xml" Id="R5a064cadcbe44f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89b98ea67b41a5" /><Relationship Type="http://schemas.openxmlformats.org/officeDocument/2006/relationships/notesMaster" Target="/ppt/notesMasters/notesMaster1.xml" Id="R7821433c15254f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Forecast revenue starts at $240.5; gross margin holds at 59.2%. ending cash is ($7,258.5), while inventory closes at 740,522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Jan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declines by $4.1; gross margin holds at 59.4%. cash declines by $524.1, while inventory draws down by 31,591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Feb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improves by $57.3; gross margin holds at 59.5%. cash declines by $542.3, while inventory builds by 133,410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Mar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declines by $54.9; gross margin holds at 59.6%. cash declines by $522.2, while inventory draws down by 203,606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Apr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improves by $8.8; gross margin holds at 59.5%. cash declines by $524.2, while inventory draws down by 31,948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May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improves by $70.3; gross margin holds at 59.5%. cash declines by $546.5, while inventory builds by 105,625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Jun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declines by $63.9; gross margin holds at 59.5%. cash declines by $525.8, while inventory draws down by 179,603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Jul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improves by $53.6; gross margin holds at 59.5%. cash declines by $545.3, while inventory builds by 87,534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Aug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declines by $110.8; gross margin holds at 59.7%. cash declines by $513, while inventory draws down by 157,043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Sep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improves by $7.7; gross margin holds at 59.4%. cash declines by $516.9, while inventory draws down by 27,639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Oct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improves by $62.5; gross margin holds at 59.2%. cash declines by $590.2, while inventory builds by 86,361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Nov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interpretation: Revenue declines by $107.4; gross margin holds at 61.3%. cash declines by $493.8, while inventory draws down by 129,171 units. Cash remains the central board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DreamBig ecommerce financial model workbook: /Users/rossegates/Documents/desktop automation/outputs/dreambig_financial_model/DreamBig_ecommerce_financial_model.xlsx</a:t>
            </a:r>
          </a:p>
          <a:p xmlns:a="http://schemas.openxmlformats.org/drawingml/2006/main">
            <a:r>
              <a:t>Source range: Monthly_Board!A4:R28. Values are the forecast month row for Dec 2026; charts use the 2026 forecast rows from the same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c0d38a46e44e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c884a1a11b46e6" /><Relationship Type="http://schemas.openxmlformats.org/officeDocument/2006/relationships/slideLayout" Target="/ppt/slideLayouts/slideLayout1.xml" Id="Rc82282c984cc47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2282c984cc47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d3a05f2394220" /><Relationship Type="http://schemas.openxmlformats.org/officeDocument/2006/relationships/image" Target="/ppt/media/image.png" Id="R58af4e5256d343be" /><Relationship Type="http://schemas.openxmlformats.org/officeDocument/2006/relationships/notesSlide" Target="/ppt/notesSlides/notesSlide1.xml" Id="Rb663815664d347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399a2cb1a4e84" /><Relationship Type="http://schemas.openxmlformats.org/officeDocument/2006/relationships/image" Target="/ppt/media/image2.png" Id="R1a28ce3537bc467a" /><Relationship Type="http://schemas.openxmlformats.org/officeDocument/2006/relationships/notesSlide" Target="/ppt/notesSlides/notesSlide2.xml" Id="Ra59e57c9f9fa47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40336ba0a46b3" /><Relationship Type="http://schemas.openxmlformats.org/officeDocument/2006/relationships/image" Target="/ppt/media/image3.png" Id="Rc56c69facf0c4095" /><Relationship Type="http://schemas.openxmlformats.org/officeDocument/2006/relationships/notesSlide" Target="/ppt/notesSlides/notesSlide3.xml" Id="Rac1e7ab4adc24f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4a0ef8eb44e0b" /><Relationship Type="http://schemas.openxmlformats.org/officeDocument/2006/relationships/image" Target="/ppt/media/image4.png" Id="R4dd9bdd2fb2a4906" /><Relationship Type="http://schemas.openxmlformats.org/officeDocument/2006/relationships/notesSlide" Target="/ppt/notesSlides/notesSlide4.xml" Id="R85972d85d43347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8cb81dd4e4bf9" /><Relationship Type="http://schemas.openxmlformats.org/officeDocument/2006/relationships/image" Target="/ppt/media/image5.png" Id="R97909a7afb2f4493" /><Relationship Type="http://schemas.openxmlformats.org/officeDocument/2006/relationships/notesSlide" Target="/ppt/notesSlides/notesSlide5.xml" Id="Rfe8927fdda8145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e1c8daa734bd5" /><Relationship Type="http://schemas.openxmlformats.org/officeDocument/2006/relationships/image" Target="/ppt/media/image6.png" Id="R2df5d2686c8a4517" /><Relationship Type="http://schemas.openxmlformats.org/officeDocument/2006/relationships/notesSlide" Target="/ppt/notesSlides/notesSlide6.xml" Id="R6a80b7eaab2e47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40a2378ea44c4" /><Relationship Type="http://schemas.openxmlformats.org/officeDocument/2006/relationships/image" Target="/ppt/media/image7.png" Id="Rd0a3f81d93f84659" /><Relationship Type="http://schemas.openxmlformats.org/officeDocument/2006/relationships/notesSlide" Target="/ppt/notesSlides/notesSlide7.xml" Id="R0d84d4fe19c242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4bfe5e07b4076" /><Relationship Type="http://schemas.openxmlformats.org/officeDocument/2006/relationships/image" Target="/ppt/media/image8.png" Id="R53d3dec5e8b644cd" /><Relationship Type="http://schemas.openxmlformats.org/officeDocument/2006/relationships/notesSlide" Target="/ppt/notesSlides/notesSlide8.xml" Id="R5cdc20406edf4e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4e67c09d44113" /><Relationship Type="http://schemas.openxmlformats.org/officeDocument/2006/relationships/image" Target="/ppt/media/image9.png" Id="R4b665c23d6ae4c0f" /><Relationship Type="http://schemas.openxmlformats.org/officeDocument/2006/relationships/notesSlide" Target="/ppt/notesSlides/notesSlide9.xml" Id="R7fbc301f126d45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38f8b79124080" /><Relationship Type="http://schemas.openxmlformats.org/officeDocument/2006/relationships/image" Target="/ppt/media/image10.png" Id="R5a07c0a2af694836" /><Relationship Type="http://schemas.openxmlformats.org/officeDocument/2006/relationships/notesSlide" Target="/ppt/notesSlides/notesSlide10.xml" Id="R173a1a66db3849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248ca730947b8" /><Relationship Type="http://schemas.openxmlformats.org/officeDocument/2006/relationships/image" Target="/ppt/media/image11.png" Id="R449be51f7f4742c1" /><Relationship Type="http://schemas.openxmlformats.org/officeDocument/2006/relationships/notesSlide" Target="/ppt/notesSlides/notesSlide11.xml" Id="Rbcaceb47885b44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4ea7437f04b80" /><Relationship Type="http://schemas.openxmlformats.org/officeDocument/2006/relationships/image" Target="/ppt/media/image12.png" Id="R59f7d4965f684462" /><Relationship Type="http://schemas.openxmlformats.org/officeDocument/2006/relationships/notesSlide" Target="/ppt/notesSlides/notesSlide12.xml" Id="R147df35f147448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-1">
            <a:extLst xmlns:a="http://schemas.openxmlformats.org/drawingml/2006/main">
              <a:ext uri="{FF2B5EF4-FFF2-40B4-BE49-F238E27FC236}">
                <a16:creationId xmlns:a16="http://schemas.microsoft.com/office/drawing/2014/main" id="{09957CA3-4B3F-4737-8C60-1FFC7C52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" name="title-0">
            <a:extLst xmlns:a="http://schemas.openxmlformats.org/drawingml/2006/main">
              <a:ext uri="{FF2B5EF4-FFF2-40B4-BE49-F238E27FC236}">
                <a16:creationId xmlns:a16="http://schemas.microsoft.com/office/drawing/2014/main" id="{FED042F6-34B8-4F82-A355-0A988097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Jan 2026: stable margin, persistent cash watch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f4e5256d343be"/>
          <a:stretch xmlns:a="http://schemas.openxmlformats.org/drawingml/2006/main"/>
        </p:blipFill>
        <p:spPr>
          <a:xfrm xmlns:a="http://schemas.openxmlformats.org/drawingml/2006/main">
            <a:off x="385901" y="1254728"/>
            <a:ext cx="5534130" cy="5024533"/>
          </a:xfrm>
          <a:prstGeom xmlns:a="http://schemas.openxmlformats.org/drawingml/2006/main" prst="rect">
            <a:avLst/>
          </a:prstGeom>
        </p:spPr>
      </p:pic>
      <p:sp>
        <p:nvSpPr>
          <p:cNvPr id="4" name="takeaway-0">
            <a:extLst xmlns:a="http://schemas.openxmlformats.org/drawingml/2006/main">
              <a:ext uri="{FF2B5EF4-FFF2-40B4-BE49-F238E27FC236}">
                <a16:creationId xmlns:a16="http://schemas.microsoft.com/office/drawing/2014/main" id="{12A6074B-8BAC-4745-A536-BD125223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Forecast revenue starts at $240.5; gross margin holds at 59.2%. ending cash is ($7,258.5), while inventory closes at 740,522 units. Cash remains the central board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5182A-CD12-45F9-88EF-659E7B2E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43AD6-80B8-4269-B1E7-37CB09B3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revenue-0">
            <a:extLst xmlns:a="http://schemas.openxmlformats.org/drawingml/2006/main">
              <a:ext uri="{FF2B5EF4-FFF2-40B4-BE49-F238E27FC236}">
                <a16:creationId xmlns:a16="http://schemas.microsoft.com/office/drawing/2014/main" id="{F23ED4F2-B625-4288-85DD-38AEE938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$240.5</a:t>
            </a:r>
          </a:p>
        </p:txBody>
      </p:sp>
      <p:sp>
        <p:nvSpPr>
          <p:cNvPr id="8" name="stat-revenue-label-0">
            <a:extLst xmlns:a="http://schemas.openxmlformats.org/drawingml/2006/main">
              <a:ext uri="{FF2B5EF4-FFF2-40B4-BE49-F238E27FC236}">
                <a16:creationId xmlns:a16="http://schemas.microsoft.com/office/drawing/2014/main" id="{C08BD49E-48EE-42E4-99F6-0D75515F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 revenue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opens the forecast year</a:t>
            </a:r>
          </a:p>
        </p:txBody>
      </p:sp>
      <p:sp>
        <p:nvSpPr>
          <p:cNvPr id="9" name="stat-cash-0">
            <a:extLst xmlns:a="http://schemas.openxmlformats.org/drawingml/2006/main">
              <a:ext uri="{FF2B5EF4-FFF2-40B4-BE49-F238E27FC236}">
                <a16:creationId xmlns:a16="http://schemas.microsoft.com/office/drawing/2014/main" id="{AD16BA7F-3AA5-4195-A484-0AD24404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($7,258.5)</a:t>
            </a:r>
          </a:p>
        </p:txBody>
      </p:sp>
      <p:sp>
        <p:nvSpPr>
          <p:cNvPr id="10" name="stat-cash-label-0">
            <a:extLst xmlns:a="http://schemas.openxmlformats.org/drawingml/2006/main">
              <a:ext uri="{FF2B5EF4-FFF2-40B4-BE49-F238E27FC236}">
                <a16:creationId xmlns:a16="http://schemas.microsoft.com/office/drawing/2014/main" id="{05B47683-872D-449D-AA70-9C37997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cash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Cash Watch</a:t>
            </a:r>
          </a:p>
        </p:txBody>
      </p:sp>
    </p:spTree>
    <p:extLst>
      <p:ext uri="{BB962C8B-B14F-4D97-AF65-F5344CB8AC3E}">
        <p14:creationId xmlns:p14="http://schemas.microsoft.com/office/powerpoint/2010/main" val="667960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-2">
            <a:extLst xmlns:a="http://schemas.openxmlformats.org/drawingml/2006/main">
              <a:ext uri="{FF2B5EF4-FFF2-40B4-BE49-F238E27FC236}">
                <a16:creationId xmlns:a16="http://schemas.microsoft.com/office/drawing/2014/main" id="{11215746-BFC3-4FEB-A297-D93EA7A7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1584D9C1-A385-40A5-9188-3B5DD316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Feb 2026: stable margin, persistent cash 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4A4AF-2428-4098-A1D6-34A53DDD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8ce3537bc467a"/>
          <a:stretch xmlns:a="http://schemas.openxmlformats.org/drawingml/2006/main"/>
        </p:blipFill>
        <p:spPr>
          <a:xfrm xmlns:a="http://schemas.openxmlformats.org/drawingml/2006/main">
            <a:off x="635647" y="1322451"/>
            <a:ext cx="5027398" cy="4784598"/>
          </a:xfrm>
          <a:prstGeom xmlns:a="http://schemas.openxmlformats.org/drawingml/2006/main" prst="rect">
            <a:avLst/>
          </a:prstGeom>
        </p:spPr>
      </p:pic>
      <p:sp>
        <p:nvSpPr>
          <p:cNvPr id="5" name="takeaway-1">
            <a:extLst xmlns:a="http://schemas.openxmlformats.org/drawingml/2006/main">
              <a:ext uri="{FF2B5EF4-FFF2-40B4-BE49-F238E27FC236}">
                <a16:creationId xmlns:a16="http://schemas.microsoft.com/office/drawing/2014/main" id="{74A0159A-B3B2-4BC1-8542-1F2285EF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55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declines by $4.1; gross margin holds at 59.4%. cash declines by $524.1, while inventory draws down by 31,591 units. Cash remains the central board issue.</a:t>
            </a:r>
          </a:p>
        </p:txBody>
      </p:sp>
      <p:sp>
        <p:nvSpPr>
          <p:cNvPr id="6" name="stat-gm-1">
            <a:extLst xmlns:a="http://schemas.openxmlformats.org/drawingml/2006/main">
              <a:ext uri="{FF2B5EF4-FFF2-40B4-BE49-F238E27FC236}">
                <a16:creationId xmlns:a16="http://schemas.microsoft.com/office/drawing/2014/main" id="{306C85AC-F374-4B83-B2F2-0AC26022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59.4%</a:t>
            </a:r>
          </a:p>
        </p:txBody>
      </p:sp>
      <p:sp>
        <p:nvSpPr>
          <p:cNvPr id="7" name="gm-label-1">
            <a:extLst xmlns:a="http://schemas.openxmlformats.org/drawingml/2006/main">
              <a:ext uri="{FF2B5EF4-FFF2-40B4-BE49-F238E27FC236}">
                <a16:creationId xmlns:a16="http://schemas.microsoft.com/office/drawing/2014/main" id="{6268E7D3-69F9-4972-B6FF-87517554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Gross margin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31.2% contribution margin</a:t>
            </a:r>
          </a:p>
        </p:txBody>
      </p:sp>
      <p:sp>
        <p:nvSpPr>
          <p:cNvPr id="8" name="stat-inventory-1">
            <a:extLst xmlns:a="http://schemas.openxmlformats.org/drawingml/2006/main">
              <a:ext uri="{FF2B5EF4-FFF2-40B4-BE49-F238E27FC236}">
                <a16:creationId xmlns:a16="http://schemas.microsoft.com/office/drawing/2014/main" id="{8B097FD6-BB9B-4B16-A677-3690025F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708,931</a:t>
            </a:r>
          </a:p>
        </p:txBody>
      </p:sp>
      <p:sp>
        <p:nvSpPr>
          <p:cNvPr id="9" name="inventory-label-1">
            <a:extLst xmlns:a="http://schemas.openxmlformats.org/drawingml/2006/main">
              <a:ext uri="{FF2B5EF4-FFF2-40B4-BE49-F238E27FC236}">
                <a16:creationId xmlns:a16="http://schemas.microsoft.com/office/drawing/2014/main" id="{0C970FF0-CA12-49A3-B5EC-4213BF53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7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inventory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stockout weeks</a:t>
            </a:r>
          </a:p>
        </p:txBody>
      </p:sp>
    </p:spTree>
    <p:extLst>
      <p:ext uri="{BB962C8B-B14F-4D97-AF65-F5344CB8AC3E}">
        <p14:creationId xmlns:p14="http://schemas.microsoft.com/office/powerpoint/2010/main" val="1638214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-3">
            <a:extLst xmlns:a="http://schemas.openxmlformats.org/drawingml/2006/main">
              <a:ext uri="{FF2B5EF4-FFF2-40B4-BE49-F238E27FC236}">
                <a16:creationId xmlns:a16="http://schemas.microsoft.com/office/drawing/2014/main" id="{4EA718BC-7661-4DEC-934B-D037415E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A66B74A-4EF6-4F66-AA93-C679C76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 2026: demand steps up, not enough to offset spend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c69facf0c4095"/>
          <a:stretch xmlns:a="http://schemas.openxmlformats.org/drawingml/2006/main"/>
        </p:blipFill>
        <p:spPr>
          <a:xfrm xmlns:a="http://schemas.openxmlformats.org/drawingml/2006/main">
            <a:off x="385901" y="1254728"/>
            <a:ext cx="5534130" cy="5024533"/>
          </a:xfrm>
          <a:prstGeom xmlns:a="http://schemas.openxmlformats.org/drawingml/2006/main" prst="rect">
            <a:avLst/>
          </a:prstGeom>
        </p:spPr>
      </p:pic>
      <p:sp>
        <p:nvSpPr>
          <p:cNvPr id="4" name="takeaway-2">
            <a:extLst xmlns:a="http://schemas.openxmlformats.org/drawingml/2006/main">
              <a:ext uri="{FF2B5EF4-FFF2-40B4-BE49-F238E27FC236}">
                <a16:creationId xmlns:a16="http://schemas.microsoft.com/office/drawing/2014/main" id="{BB61436F-1162-4C20-8B37-AB695DA0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improves by $57.3; gross margin holds at 59.5%. cash declines by $542.3, while inventory builds by 133,410 units. Cash remains the central board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6CD55-A5CC-4C3C-8EFC-2D2E5678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A1A53-FEF8-4DE5-8930-997E5A56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revenue-2">
            <a:extLst xmlns:a="http://schemas.openxmlformats.org/drawingml/2006/main">
              <a:ext uri="{FF2B5EF4-FFF2-40B4-BE49-F238E27FC236}">
                <a16:creationId xmlns:a16="http://schemas.microsoft.com/office/drawing/2014/main" id="{1B31B85E-1206-4796-B7F5-77BD8EFA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$293.6</a:t>
            </a:r>
          </a:p>
        </p:txBody>
      </p:sp>
      <p:sp>
        <p:nvSpPr>
          <p:cNvPr id="8" name="stat-revenue-label-2">
            <a:extLst xmlns:a="http://schemas.openxmlformats.org/drawingml/2006/main">
              <a:ext uri="{FF2B5EF4-FFF2-40B4-BE49-F238E27FC236}">
                <a16:creationId xmlns:a16="http://schemas.microsoft.com/office/drawing/2014/main" id="{602B52B4-1EBC-49D9-A253-285A4E0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 revenue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improves by $57.3</a:t>
            </a:r>
          </a:p>
        </p:txBody>
      </p:sp>
      <p:sp>
        <p:nvSpPr>
          <p:cNvPr id="9" name="stat-cash-2">
            <a:extLst xmlns:a="http://schemas.openxmlformats.org/drawingml/2006/main">
              <a:ext uri="{FF2B5EF4-FFF2-40B4-BE49-F238E27FC236}">
                <a16:creationId xmlns:a16="http://schemas.microsoft.com/office/drawing/2014/main" id="{EAAD9ECD-EB7A-4F20-9762-94C5F3FB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($8,324.9)</a:t>
            </a:r>
          </a:p>
        </p:txBody>
      </p:sp>
      <p:sp>
        <p:nvSpPr>
          <p:cNvPr id="10" name="stat-cash-label-2">
            <a:extLst xmlns:a="http://schemas.openxmlformats.org/drawingml/2006/main">
              <a:ext uri="{FF2B5EF4-FFF2-40B4-BE49-F238E27FC236}">
                <a16:creationId xmlns:a16="http://schemas.microsoft.com/office/drawing/2014/main" id="{3DCEF649-D310-4A34-B6B3-AB0C0F4F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cash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Cash Watch</a:t>
            </a:r>
          </a:p>
        </p:txBody>
      </p:sp>
    </p:spTree>
    <p:extLst>
      <p:ext uri="{BB962C8B-B14F-4D97-AF65-F5344CB8AC3E}">
        <p14:creationId xmlns:p14="http://schemas.microsoft.com/office/powerpoint/2010/main" val="743946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-4">
            <a:extLst xmlns:a="http://schemas.openxmlformats.org/drawingml/2006/main">
              <a:ext uri="{FF2B5EF4-FFF2-40B4-BE49-F238E27FC236}">
                <a16:creationId xmlns:a16="http://schemas.microsoft.com/office/drawing/2014/main" id="{7BA7260F-CDB6-4994-A7F2-5293AE8D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7346058-B1B0-476F-B9E3-18B2E8B9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Apr 2026: revenue softens and cash burn persists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160AB-AF6B-4506-8322-CCFDEA30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9bdd2fb2a4906"/>
          <a:stretch xmlns:a="http://schemas.openxmlformats.org/drawingml/2006/main"/>
        </p:blipFill>
        <p:spPr>
          <a:xfrm xmlns:a="http://schemas.openxmlformats.org/drawingml/2006/main">
            <a:off x="635647" y="1322451"/>
            <a:ext cx="5027398" cy="4784598"/>
          </a:xfrm>
          <a:prstGeom xmlns:a="http://schemas.openxmlformats.org/drawingml/2006/main" prst="rect">
            <a:avLst/>
          </a:prstGeom>
        </p:spPr>
      </p:pic>
      <p:sp>
        <p:nvSpPr>
          <p:cNvPr id="5" name="takeaway-3">
            <a:extLst xmlns:a="http://schemas.openxmlformats.org/drawingml/2006/main">
              <a:ext uri="{FF2B5EF4-FFF2-40B4-BE49-F238E27FC236}">
                <a16:creationId xmlns:a16="http://schemas.microsoft.com/office/drawing/2014/main" id="{97A2F08E-C5CF-4C06-8474-39862921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55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declines by $54.9; gross margin holds at 59.6%. cash declines by $522.2, while inventory draws down by 203,606 units. Cash remains the central board issue.</a:t>
            </a:r>
          </a:p>
        </p:txBody>
      </p:sp>
      <p:sp>
        <p:nvSpPr>
          <p:cNvPr id="6" name="stat-gm-3">
            <a:extLst xmlns:a="http://schemas.openxmlformats.org/drawingml/2006/main">
              <a:ext uri="{FF2B5EF4-FFF2-40B4-BE49-F238E27FC236}">
                <a16:creationId xmlns:a16="http://schemas.microsoft.com/office/drawing/2014/main" id="{0C2F99B4-5CC2-4A0F-8CFE-B064786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59.6%</a:t>
            </a:r>
          </a:p>
        </p:txBody>
      </p:sp>
      <p:sp>
        <p:nvSpPr>
          <p:cNvPr id="7" name="gm-label-3">
            <a:extLst xmlns:a="http://schemas.openxmlformats.org/drawingml/2006/main">
              <a:ext uri="{FF2B5EF4-FFF2-40B4-BE49-F238E27FC236}">
                <a16:creationId xmlns:a16="http://schemas.microsoft.com/office/drawing/2014/main" id="{F2D5FAD9-6F63-4198-A352-76324DA4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Gross margin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31.6% contribution margin</a:t>
            </a:r>
          </a:p>
        </p:txBody>
      </p:sp>
      <p:sp>
        <p:nvSpPr>
          <p:cNvPr id="8" name="stat-inventory-3">
            <a:extLst xmlns:a="http://schemas.openxmlformats.org/drawingml/2006/main">
              <a:ext uri="{FF2B5EF4-FFF2-40B4-BE49-F238E27FC236}">
                <a16:creationId xmlns:a16="http://schemas.microsoft.com/office/drawing/2014/main" id="{2B6D4086-A571-4AC3-8F4B-DE2E135D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638,735</a:t>
            </a:r>
          </a:p>
        </p:txBody>
      </p:sp>
      <p:sp>
        <p:nvSpPr>
          <p:cNvPr id="9" name="inventory-label-3">
            <a:extLst xmlns:a="http://schemas.openxmlformats.org/drawingml/2006/main">
              <a:ext uri="{FF2B5EF4-FFF2-40B4-BE49-F238E27FC236}">
                <a16:creationId xmlns:a16="http://schemas.microsoft.com/office/drawing/2014/main" id="{13C045B5-FBBA-4DF2-8EF9-1D035B55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7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inventory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stockout weeks</a:t>
            </a:r>
          </a:p>
        </p:txBody>
      </p:sp>
    </p:spTree>
    <p:extLst>
      <p:ext uri="{BB962C8B-B14F-4D97-AF65-F5344CB8AC3E}">
        <p14:creationId xmlns:p14="http://schemas.microsoft.com/office/powerpoint/2010/main" val="1534147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-5">
            <a:extLst xmlns:a="http://schemas.openxmlformats.org/drawingml/2006/main">
              <a:ext uri="{FF2B5EF4-FFF2-40B4-BE49-F238E27FC236}">
                <a16:creationId xmlns:a16="http://schemas.microsoft.com/office/drawing/2014/main" id="{20155675-CDCC-4F88-AB09-589CF119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D25DDE0-FBD3-4FFA-B0DB-87836242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May 2026: stable margin, persistent cash watch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09a7afb2f4493"/>
          <a:stretch xmlns:a="http://schemas.openxmlformats.org/drawingml/2006/main"/>
        </p:blipFill>
        <p:spPr>
          <a:xfrm xmlns:a="http://schemas.openxmlformats.org/drawingml/2006/main">
            <a:off x="385901" y="1254728"/>
            <a:ext cx="5534130" cy="5024533"/>
          </a:xfrm>
          <a:prstGeom xmlns:a="http://schemas.openxmlformats.org/drawingml/2006/main" prst="rect">
            <a:avLst/>
          </a:prstGeom>
        </p:spPr>
      </p:pic>
      <p:sp>
        <p:nvSpPr>
          <p:cNvPr id="4" name="takeaway-4">
            <a:extLst xmlns:a="http://schemas.openxmlformats.org/drawingml/2006/main">
              <a:ext uri="{FF2B5EF4-FFF2-40B4-BE49-F238E27FC236}">
                <a16:creationId xmlns:a16="http://schemas.microsoft.com/office/drawing/2014/main" id="{7362ECEC-7064-4968-8686-C6B46D5E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improves by $8.8; gross margin holds at 59.5%. cash declines by $524.2, while inventory draws down by 31,948 units. Cash remains the central board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4C175-8EBB-4BA4-A9EA-B7AB0E7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D32DD-16F8-40A8-9434-0B7B14D2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revenue-4">
            <a:extLst xmlns:a="http://schemas.openxmlformats.org/drawingml/2006/main">
              <a:ext uri="{FF2B5EF4-FFF2-40B4-BE49-F238E27FC236}">
                <a16:creationId xmlns:a16="http://schemas.microsoft.com/office/drawing/2014/main" id="{078FF96A-3091-40E0-B043-372995C9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$247.6</a:t>
            </a:r>
          </a:p>
        </p:txBody>
      </p:sp>
      <p:sp>
        <p:nvSpPr>
          <p:cNvPr id="8" name="stat-revenue-label-4">
            <a:extLst xmlns:a="http://schemas.openxmlformats.org/drawingml/2006/main">
              <a:ext uri="{FF2B5EF4-FFF2-40B4-BE49-F238E27FC236}">
                <a16:creationId xmlns:a16="http://schemas.microsoft.com/office/drawing/2014/main" id="{8B5483F6-4C06-47C2-B6AB-C5A26C23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 revenue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improves by $8.8</a:t>
            </a:r>
          </a:p>
        </p:txBody>
      </p:sp>
      <p:sp>
        <p:nvSpPr>
          <p:cNvPr id="9" name="stat-cash-4">
            <a:extLst xmlns:a="http://schemas.openxmlformats.org/drawingml/2006/main">
              <a:ext uri="{FF2B5EF4-FFF2-40B4-BE49-F238E27FC236}">
                <a16:creationId xmlns:a16="http://schemas.microsoft.com/office/drawing/2014/main" id="{C23E5F07-160C-479B-A085-B1FD97D4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($9,371.3)</a:t>
            </a:r>
          </a:p>
        </p:txBody>
      </p:sp>
      <p:sp>
        <p:nvSpPr>
          <p:cNvPr id="10" name="stat-cash-label-4">
            <a:extLst xmlns:a="http://schemas.openxmlformats.org/drawingml/2006/main">
              <a:ext uri="{FF2B5EF4-FFF2-40B4-BE49-F238E27FC236}">
                <a16:creationId xmlns:a16="http://schemas.microsoft.com/office/drawing/2014/main" id="{CBAFAE8D-4147-43A9-8E81-2F45E10E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cash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Cash Watch</a:t>
            </a:r>
          </a:p>
        </p:txBody>
      </p:sp>
    </p:spTree>
    <p:extLst>
      <p:ext uri="{BB962C8B-B14F-4D97-AF65-F5344CB8AC3E}">
        <p14:creationId xmlns:p14="http://schemas.microsoft.com/office/powerpoint/2010/main" val="1259845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-6">
            <a:extLst xmlns:a="http://schemas.openxmlformats.org/drawingml/2006/main">
              <a:ext uri="{FF2B5EF4-FFF2-40B4-BE49-F238E27FC236}">
                <a16:creationId xmlns:a16="http://schemas.microsoft.com/office/drawing/2014/main" id="{89231FFD-336C-4FD0-93DC-63DDD952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1C3BCE8-C5D5-4E71-B1BB-BF5ED276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Jun 2026: revenue peaks, but cash still tightens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8810E-7B86-444B-805A-B9FD9EC2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5d2686c8a4517"/>
          <a:stretch xmlns:a="http://schemas.openxmlformats.org/drawingml/2006/main"/>
        </p:blipFill>
        <p:spPr>
          <a:xfrm xmlns:a="http://schemas.openxmlformats.org/drawingml/2006/main">
            <a:off x="635647" y="1322451"/>
            <a:ext cx="5027398" cy="4784598"/>
          </a:xfrm>
          <a:prstGeom xmlns:a="http://schemas.openxmlformats.org/drawingml/2006/main" prst="rect">
            <a:avLst/>
          </a:prstGeom>
        </p:spPr>
      </p:pic>
      <p:sp>
        <p:nvSpPr>
          <p:cNvPr id="5" name="takeaway-5">
            <a:extLst xmlns:a="http://schemas.openxmlformats.org/drawingml/2006/main">
              <a:ext uri="{FF2B5EF4-FFF2-40B4-BE49-F238E27FC236}">
                <a16:creationId xmlns:a16="http://schemas.microsoft.com/office/drawing/2014/main" id="{53934FB0-9743-4CEF-9E67-6F4A940D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improves by $70.3; gross margin holds at 59.5%. cash declines by $546.5, while inventory builds by 105,625 units. Cash remains the central board issue.</a:t>
            </a:r>
          </a:p>
        </p:txBody>
      </p:sp>
      <p:sp>
        <p:nvSpPr>
          <p:cNvPr id="6" name="stat-gm-5">
            <a:extLst xmlns:a="http://schemas.openxmlformats.org/drawingml/2006/main">
              <a:ext uri="{FF2B5EF4-FFF2-40B4-BE49-F238E27FC236}">
                <a16:creationId xmlns:a16="http://schemas.microsoft.com/office/drawing/2014/main" id="{1088B6A6-5A16-4341-9ABD-2172FB2D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59.5%</a:t>
            </a:r>
          </a:p>
        </p:txBody>
      </p:sp>
      <p:sp>
        <p:nvSpPr>
          <p:cNvPr id="7" name="gm-label-5">
            <a:extLst xmlns:a="http://schemas.openxmlformats.org/drawingml/2006/main">
              <a:ext uri="{FF2B5EF4-FFF2-40B4-BE49-F238E27FC236}">
                <a16:creationId xmlns:a16="http://schemas.microsoft.com/office/drawing/2014/main" id="{15E1838D-22F8-4066-9AEA-8D68552D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Gross margin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31.8% contribution margin</a:t>
            </a:r>
          </a:p>
        </p:txBody>
      </p:sp>
      <p:sp>
        <p:nvSpPr>
          <p:cNvPr id="8" name="stat-inventory-5">
            <a:extLst xmlns:a="http://schemas.openxmlformats.org/drawingml/2006/main">
              <a:ext uri="{FF2B5EF4-FFF2-40B4-BE49-F238E27FC236}">
                <a16:creationId xmlns:a16="http://schemas.microsoft.com/office/drawing/2014/main" id="{7A60A19C-81E4-46B3-980F-A6209D6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712,412</a:t>
            </a:r>
          </a:p>
        </p:txBody>
      </p:sp>
      <p:sp>
        <p:nvSpPr>
          <p:cNvPr id="9" name="inventory-label-5">
            <a:extLst xmlns:a="http://schemas.openxmlformats.org/drawingml/2006/main">
              <a:ext uri="{FF2B5EF4-FFF2-40B4-BE49-F238E27FC236}">
                <a16:creationId xmlns:a16="http://schemas.microsoft.com/office/drawing/2014/main" id="{F6BA191A-53A2-45DC-AD95-C8AB7815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7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inventory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stockout weeks</a:t>
            </a:r>
          </a:p>
        </p:txBody>
      </p:sp>
    </p:spTree>
    <p:extLst>
      <p:ext uri="{BB962C8B-B14F-4D97-AF65-F5344CB8AC3E}">
        <p14:creationId xmlns:p14="http://schemas.microsoft.com/office/powerpoint/2010/main" val="280526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-7">
            <a:extLst xmlns:a="http://schemas.openxmlformats.org/drawingml/2006/main">
              <a:ext uri="{FF2B5EF4-FFF2-40B4-BE49-F238E27FC236}">
                <a16:creationId xmlns:a16="http://schemas.microsoft.com/office/drawing/2014/main" id="{08EF7848-33F6-4676-832C-15F545CD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A1FA89F-9F11-4304-9C23-BA299264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Jul 2026: revenue softens and cash burn persists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3f81d93f84659"/>
          <a:stretch xmlns:a="http://schemas.openxmlformats.org/drawingml/2006/main"/>
        </p:blipFill>
        <p:spPr>
          <a:xfrm xmlns:a="http://schemas.openxmlformats.org/drawingml/2006/main">
            <a:off x="385901" y="1254728"/>
            <a:ext cx="5534130" cy="5024533"/>
          </a:xfrm>
          <a:prstGeom xmlns:a="http://schemas.openxmlformats.org/drawingml/2006/main" prst="rect">
            <a:avLst/>
          </a:prstGeom>
        </p:spPr>
      </p:pic>
      <p:sp>
        <p:nvSpPr>
          <p:cNvPr id="4" name="takeaway-6">
            <a:extLst xmlns:a="http://schemas.openxmlformats.org/drawingml/2006/main">
              <a:ext uri="{FF2B5EF4-FFF2-40B4-BE49-F238E27FC236}">
                <a16:creationId xmlns:a16="http://schemas.microsoft.com/office/drawing/2014/main" id="{99B7D879-8F05-41F3-AD4D-EFECE1AB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declines by $63.9; gross margin holds at 59.5%. cash declines by $525.8, while inventory draws down by 179,603 units. Cash remains the central board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3D38E-8FF0-4E25-83AC-559E25C7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9A9DC-D74A-4BCE-89EF-99B9D65E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revenue-6">
            <a:extLst xmlns:a="http://schemas.openxmlformats.org/drawingml/2006/main">
              <a:ext uri="{FF2B5EF4-FFF2-40B4-BE49-F238E27FC236}">
                <a16:creationId xmlns:a16="http://schemas.microsoft.com/office/drawing/2014/main" id="{0BB7E24D-365F-4F7A-962E-FE035B59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$254</a:t>
            </a:r>
          </a:p>
        </p:txBody>
      </p:sp>
      <p:sp>
        <p:nvSpPr>
          <p:cNvPr id="8" name="stat-revenue-label-6">
            <a:extLst xmlns:a="http://schemas.openxmlformats.org/drawingml/2006/main">
              <a:ext uri="{FF2B5EF4-FFF2-40B4-BE49-F238E27FC236}">
                <a16:creationId xmlns:a16="http://schemas.microsoft.com/office/drawing/2014/main" id="{62365B24-CA1E-41A0-B5E6-5316C849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 revenue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declines by $63.9</a:t>
            </a:r>
          </a:p>
        </p:txBody>
      </p:sp>
      <p:sp>
        <p:nvSpPr>
          <p:cNvPr id="9" name="stat-cash-6">
            <a:extLst xmlns:a="http://schemas.openxmlformats.org/drawingml/2006/main">
              <a:ext uri="{FF2B5EF4-FFF2-40B4-BE49-F238E27FC236}">
                <a16:creationId xmlns:a16="http://schemas.microsoft.com/office/drawing/2014/main" id="{F2BC10A4-0EEF-46DE-BAF0-4B0DEF55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($10,443.6)</a:t>
            </a:r>
          </a:p>
        </p:txBody>
      </p:sp>
      <p:sp>
        <p:nvSpPr>
          <p:cNvPr id="10" name="stat-cash-label-6">
            <a:extLst xmlns:a="http://schemas.openxmlformats.org/drawingml/2006/main">
              <a:ext uri="{FF2B5EF4-FFF2-40B4-BE49-F238E27FC236}">
                <a16:creationId xmlns:a16="http://schemas.microsoft.com/office/drawing/2014/main" id="{73095A42-72C5-46A6-AFEC-5D83046D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cash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Cash Watch</a:t>
            </a:r>
          </a:p>
        </p:txBody>
      </p:sp>
    </p:spTree>
    <p:extLst>
      <p:ext uri="{BB962C8B-B14F-4D97-AF65-F5344CB8AC3E}">
        <p14:creationId xmlns:p14="http://schemas.microsoft.com/office/powerpoint/2010/main" val="10743088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-8">
            <a:extLst xmlns:a="http://schemas.openxmlformats.org/drawingml/2006/main">
              <a:ext uri="{FF2B5EF4-FFF2-40B4-BE49-F238E27FC236}">
                <a16:creationId xmlns:a16="http://schemas.microsoft.com/office/drawing/2014/main" id="{95CF095E-DC6C-4069-B536-E6AD789A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18D8491-BFF7-4AF6-9D6C-B4E53C7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Aug 2026: demand steps up, not enough to offset spend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659EA-606B-4BE5-A481-201BB578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3dec5e8b644cd"/>
          <a:stretch xmlns:a="http://schemas.openxmlformats.org/drawingml/2006/main"/>
        </p:blipFill>
        <p:spPr>
          <a:xfrm xmlns:a="http://schemas.openxmlformats.org/drawingml/2006/main">
            <a:off x="635647" y="1322451"/>
            <a:ext cx="5027398" cy="4784598"/>
          </a:xfrm>
          <a:prstGeom xmlns:a="http://schemas.openxmlformats.org/drawingml/2006/main" prst="rect">
            <a:avLst/>
          </a:prstGeom>
        </p:spPr>
      </p:pic>
      <p:sp>
        <p:nvSpPr>
          <p:cNvPr id="5" name="takeaway-7">
            <a:extLst xmlns:a="http://schemas.openxmlformats.org/drawingml/2006/main">
              <a:ext uri="{FF2B5EF4-FFF2-40B4-BE49-F238E27FC236}">
                <a16:creationId xmlns:a16="http://schemas.microsoft.com/office/drawing/2014/main" id="{66BAD1BD-D49A-4070-9EB9-0B5324D0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improves by $53.6; gross margin holds at 59.5%. cash declines by $545.3, while inventory builds by 87,534 units. Cash remains the central board issue.</a:t>
            </a:r>
          </a:p>
        </p:txBody>
      </p:sp>
      <p:sp>
        <p:nvSpPr>
          <p:cNvPr id="6" name="stat-gm-7">
            <a:extLst xmlns:a="http://schemas.openxmlformats.org/drawingml/2006/main">
              <a:ext uri="{FF2B5EF4-FFF2-40B4-BE49-F238E27FC236}">
                <a16:creationId xmlns:a16="http://schemas.microsoft.com/office/drawing/2014/main" id="{50DA65EC-56CD-4365-99AB-9942D90B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59.5%</a:t>
            </a:r>
          </a:p>
        </p:txBody>
      </p:sp>
      <p:sp>
        <p:nvSpPr>
          <p:cNvPr id="7" name="gm-label-7">
            <a:extLst xmlns:a="http://schemas.openxmlformats.org/drawingml/2006/main">
              <a:ext uri="{FF2B5EF4-FFF2-40B4-BE49-F238E27FC236}">
                <a16:creationId xmlns:a16="http://schemas.microsoft.com/office/drawing/2014/main" id="{E684E03F-05D6-4237-A961-51A823F5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Gross margin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31.6% contribution margin</a:t>
            </a:r>
          </a:p>
        </p:txBody>
      </p:sp>
      <p:sp>
        <p:nvSpPr>
          <p:cNvPr id="8" name="stat-inventory-7">
            <a:extLst xmlns:a="http://schemas.openxmlformats.org/drawingml/2006/main">
              <a:ext uri="{FF2B5EF4-FFF2-40B4-BE49-F238E27FC236}">
                <a16:creationId xmlns:a16="http://schemas.microsoft.com/office/drawing/2014/main" id="{F268C2F8-0C8B-4C34-AC59-23954A2C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620,344</a:t>
            </a:r>
          </a:p>
        </p:txBody>
      </p:sp>
      <p:sp>
        <p:nvSpPr>
          <p:cNvPr id="9" name="inventory-label-7">
            <a:extLst xmlns:a="http://schemas.openxmlformats.org/drawingml/2006/main">
              <a:ext uri="{FF2B5EF4-FFF2-40B4-BE49-F238E27FC236}">
                <a16:creationId xmlns:a16="http://schemas.microsoft.com/office/drawing/2014/main" id="{71090C44-F546-41BE-B71E-FAE50EDF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7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inventory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stockout weeks</a:t>
            </a:r>
          </a:p>
        </p:txBody>
      </p:sp>
    </p:spTree>
    <p:extLst>
      <p:ext uri="{BB962C8B-B14F-4D97-AF65-F5344CB8AC3E}">
        <p14:creationId xmlns:p14="http://schemas.microsoft.com/office/powerpoint/2010/main" val="1170105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-9">
            <a:extLst xmlns:a="http://schemas.openxmlformats.org/drawingml/2006/main">
              <a:ext uri="{FF2B5EF4-FFF2-40B4-BE49-F238E27FC236}">
                <a16:creationId xmlns:a16="http://schemas.microsoft.com/office/drawing/2014/main" id="{8C79732E-F450-4BD7-84C8-97F9AC6F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7785561-06C6-4436-AF1D-EB1B9DC5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Sep 2026: revenue softens and cash burn persists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65c23d6ae4c0f"/>
          <a:stretch xmlns:a="http://schemas.openxmlformats.org/drawingml/2006/main"/>
        </p:blipFill>
        <p:spPr>
          <a:xfrm xmlns:a="http://schemas.openxmlformats.org/drawingml/2006/main">
            <a:off x="385901" y="1254728"/>
            <a:ext cx="5534130" cy="5024533"/>
          </a:xfrm>
          <a:prstGeom xmlns:a="http://schemas.openxmlformats.org/drawingml/2006/main" prst="rect">
            <a:avLst/>
          </a:prstGeom>
        </p:spPr>
      </p:pic>
      <p:sp>
        <p:nvSpPr>
          <p:cNvPr id="4" name="takeaway-8">
            <a:extLst xmlns:a="http://schemas.openxmlformats.org/drawingml/2006/main">
              <a:ext uri="{FF2B5EF4-FFF2-40B4-BE49-F238E27FC236}">
                <a16:creationId xmlns:a16="http://schemas.microsoft.com/office/drawing/2014/main" id="{F0137E07-B70D-44A9-B58D-112CA868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declines by $110.8; gross margin holds at 59.7%. cash declines by $513, while inventory draws down by 157,043 units. Cash remains the central board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D7A90-8995-4DAC-9EAF-E7A952CB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D6482-DA29-49C7-8E86-1883E442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revenue-8">
            <a:extLst xmlns:a="http://schemas.openxmlformats.org/drawingml/2006/main">
              <a:ext uri="{FF2B5EF4-FFF2-40B4-BE49-F238E27FC236}">
                <a16:creationId xmlns:a16="http://schemas.microsoft.com/office/drawing/2014/main" id="{BA8F9010-D108-4167-A43C-7AF7F625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$196.8</a:t>
            </a:r>
          </a:p>
        </p:txBody>
      </p:sp>
      <p:sp>
        <p:nvSpPr>
          <p:cNvPr id="8" name="stat-revenue-label-8">
            <a:extLst xmlns:a="http://schemas.openxmlformats.org/drawingml/2006/main">
              <a:ext uri="{FF2B5EF4-FFF2-40B4-BE49-F238E27FC236}">
                <a16:creationId xmlns:a16="http://schemas.microsoft.com/office/drawing/2014/main" id="{CA476739-02C6-434A-A0E8-102FBAA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4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 revenue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declines by $110.8</a:t>
            </a:r>
          </a:p>
        </p:txBody>
      </p:sp>
      <p:sp>
        <p:nvSpPr>
          <p:cNvPr id="9" name="stat-cash-8">
            <a:extLst xmlns:a="http://schemas.openxmlformats.org/drawingml/2006/main">
              <a:ext uri="{FF2B5EF4-FFF2-40B4-BE49-F238E27FC236}">
                <a16:creationId xmlns:a16="http://schemas.microsoft.com/office/drawing/2014/main" id="{4284B73B-044E-463E-98F1-6C7B2168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($11,501.8)</a:t>
            </a:r>
          </a:p>
        </p:txBody>
      </p:sp>
      <p:sp>
        <p:nvSpPr>
          <p:cNvPr id="10" name="stat-cash-label-8">
            <a:extLst xmlns:a="http://schemas.openxmlformats.org/drawingml/2006/main">
              <a:ext uri="{FF2B5EF4-FFF2-40B4-BE49-F238E27FC236}">
                <a16:creationId xmlns:a16="http://schemas.microsoft.com/office/drawing/2014/main" id="{E94A68DD-3B63-4C8F-B1DE-5DA04A0F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cash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Cash Watch</a:t>
            </a:r>
          </a:p>
        </p:txBody>
      </p:sp>
    </p:spTree>
    <p:extLst>
      <p:ext uri="{BB962C8B-B14F-4D97-AF65-F5344CB8AC3E}">
        <p14:creationId xmlns:p14="http://schemas.microsoft.com/office/powerpoint/2010/main" val="1075730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-10">
            <a:extLst xmlns:a="http://schemas.openxmlformats.org/drawingml/2006/main">
              <a:ext uri="{FF2B5EF4-FFF2-40B4-BE49-F238E27FC236}">
                <a16:creationId xmlns:a16="http://schemas.microsoft.com/office/drawing/2014/main" id="{7FEE0FB7-B55C-4CB8-9F5C-1E7A902C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CC004C4-E205-4842-B292-F7C805B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Oct 2026: stable margin, persistent cash watch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D8FFB-468F-4196-B8D9-D2B9CBF6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7c0a2af694836"/>
          <a:stretch xmlns:a="http://schemas.openxmlformats.org/drawingml/2006/main"/>
        </p:blipFill>
        <p:spPr>
          <a:xfrm xmlns:a="http://schemas.openxmlformats.org/drawingml/2006/main">
            <a:off x="635647" y="1322451"/>
            <a:ext cx="5027398" cy="4784598"/>
          </a:xfrm>
          <a:prstGeom xmlns:a="http://schemas.openxmlformats.org/drawingml/2006/main" prst="rect">
            <a:avLst/>
          </a:prstGeom>
        </p:spPr>
      </p:pic>
      <p:sp>
        <p:nvSpPr>
          <p:cNvPr id="5" name="takeaway-9">
            <a:extLst xmlns:a="http://schemas.openxmlformats.org/drawingml/2006/main">
              <a:ext uri="{FF2B5EF4-FFF2-40B4-BE49-F238E27FC236}">
                <a16:creationId xmlns:a16="http://schemas.microsoft.com/office/drawing/2014/main" id="{B02B6659-FB02-486A-9DDA-856422B5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55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improves by $7.7; gross margin holds at 59.4%. cash declines by $516.9, while inventory draws down by 27,639 units. Cash remains the central board issue.</a:t>
            </a:r>
          </a:p>
        </p:txBody>
      </p:sp>
      <p:sp>
        <p:nvSpPr>
          <p:cNvPr id="6" name="stat-gm-9">
            <a:extLst xmlns:a="http://schemas.openxmlformats.org/drawingml/2006/main">
              <a:ext uri="{FF2B5EF4-FFF2-40B4-BE49-F238E27FC236}">
                <a16:creationId xmlns:a16="http://schemas.microsoft.com/office/drawing/2014/main" id="{B05A61EF-C261-4B9C-AE93-C82CBA37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59.4%</a:t>
            </a:r>
          </a:p>
        </p:txBody>
      </p:sp>
      <p:sp>
        <p:nvSpPr>
          <p:cNvPr id="7" name="gm-label-9">
            <a:extLst xmlns:a="http://schemas.openxmlformats.org/drawingml/2006/main">
              <a:ext uri="{FF2B5EF4-FFF2-40B4-BE49-F238E27FC236}">
                <a16:creationId xmlns:a16="http://schemas.microsoft.com/office/drawing/2014/main" id="{7633C302-E18C-44E3-9C33-FF9088BC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Gross margin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30.6% contribution margin</a:t>
            </a:r>
          </a:p>
        </p:txBody>
      </p:sp>
      <p:sp>
        <p:nvSpPr>
          <p:cNvPr id="8" name="stat-inventory-9">
            <a:extLst xmlns:a="http://schemas.openxmlformats.org/drawingml/2006/main">
              <a:ext uri="{FF2B5EF4-FFF2-40B4-BE49-F238E27FC236}">
                <a16:creationId xmlns:a16="http://schemas.microsoft.com/office/drawing/2014/main" id="{90097ACF-D942-4176-9E00-BC0A856D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435,662</a:t>
            </a:r>
          </a:p>
        </p:txBody>
      </p:sp>
      <p:sp>
        <p:nvSpPr>
          <p:cNvPr id="9" name="inventory-label-9">
            <a:extLst xmlns:a="http://schemas.openxmlformats.org/drawingml/2006/main">
              <a:ext uri="{FF2B5EF4-FFF2-40B4-BE49-F238E27FC236}">
                <a16:creationId xmlns:a16="http://schemas.microsoft.com/office/drawing/2014/main" id="{626495D9-FD9B-4941-98B5-3CC32F79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7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inventory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stockout weeks</a:t>
            </a:r>
          </a:p>
        </p:txBody>
      </p:sp>
    </p:spTree>
    <p:extLst>
      <p:ext uri="{BB962C8B-B14F-4D97-AF65-F5344CB8AC3E}">
        <p14:creationId xmlns:p14="http://schemas.microsoft.com/office/powerpoint/2010/main" val="258823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-11">
            <a:extLst xmlns:a="http://schemas.openxmlformats.org/drawingml/2006/main">
              <a:ext uri="{FF2B5EF4-FFF2-40B4-BE49-F238E27FC236}">
                <a16:creationId xmlns:a16="http://schemas.microsoft.com/office/drawing/2014/main" id="{1AA5E48E-CB27-48C5-888F-045F107C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FFA6C7F5-ED1E-49D2-8D81-94EA8CC6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Nov 2026: demand steps up, not enough to offset spend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be51f7f4742c1"/>
          <a:stretch xmlns:a="http://schemas.openxmlformats.org/drawingml/2006/main"/>
        </p:blipFill>
        <p:spPr>
          <a:xfrm xmlns:a="http://schemas.openxmlformats.org/drawingml/2006/main">
            <a:off x="385901" y="1254728"/>
            <a:ext cx="5534130" cy="5024533"/>
          </a:xfrm>
          <a:prstGeom xmlns:a="http://schemas.openxmlformats.org/drawingml/2006/main" prst="rect">
            <a:avLst/>
          </a:prstGeom>
        </p:spPr>
      </p:pic>
      <p:sp>
        <p:nvSpPr>
          <p:cNvPr id="4" name="takeaway-10">
            <a:extLst xmlns:a="http://schemas.openxmlformats.org/drawingml/2006/main">
              <a:ext uri="{FF2B5EF4-FFF2-40B4-BE49-F238E27FC236}">
                <a16:creationId xmlns:a16="http://schemas.microsoft.com/office/drawing/2014/main" id="{A63D41B5-8611-4A5D-A6A2-309BEA36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714500"/>
            <a:ext cx="553983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improves by $62.5; gross margin holds at 59.2%. cash declines by $590.2, while inventory builds by 86,361 units. Cash remains the central board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FDC76-1022-4EC2-9BD7-C627BE72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77AC2-2CA8-4120-8219-89BB90B5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revenue-10">
            <a:extLst xmlns:a="http://schemas.openxmlformats.org/drawingml/2006/main">
              <a:ext uri="{FF2B5EF4-FFF2-40B4-BE49-F238E27FC236}">
                <a16:creationId xmlns:a16="http://schemas.microsoft.com/office/drawing/2014/main" id="{459BAF79-E55F-4ADB-AF84-3DF92B5D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$267</a:t>
            </a:r>
          </a:p>
        </p:txBody>
      </p:sp>
      <p:sp>
        <p:nvSpPr>
          <p:cNvPr id="8" name="stat-revenue-label-10">
            <a:extLst xmlns:a="http://schemas.openxmlformats.org/drawingml/2006/main">
              <a:ext uri="{FF2B5EF4-FFF2-40B4-BE49-F238E27FC236}">
                <a16:creationId xmlns:a16="http://schemas.microsoft.com/office/drawing/2014/main" id="{AA5DCA9F-8E3B-4BD0-A0A0-F74EDFD4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 revenue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improves by $62.5</a:t>
            </a:r>
          </a:p>
        </p:txBody>
      </p:sp>
      <p:sp>
        <p:nvSpPr>
          <p:cNvPr id="9" name="stat-cash-10">
            <a:extLst xmlns:a="http://schemas.openxmlformats.org/drawingml/2006/main">
              <a:ext uri="{FF2B5EF4-FFF2-40B4-BE49-F238E27FC236}">
                <a16:creationId xmlns:a16="http://schemas.microsoft.com/office/drawing/2014/main" id="{7034CDFC-B7E7-440A-BC41-2BFD15D5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94B4B"/>
                </a:solidFill>
                <a:latin typeface="Helvetica Neue"/>
                <a:ea typeface="Helvetica Neue"/>
                <a:cs typeface="Helvetica Neue"/>
              </a:rPr>
              <a:t>($12,608.9)</a:t>
            </a:r>
          </a:p>
        </p:txBody>
      </p:sp>
      <p:sp>
        <p:nvSpPr>
          <p:cNvPr id="10" name="stat-cash-label-10">
            <a:extLst xmlns:a="http://schemas.openxmlformats.org/drawingml/2006/main">
              <a:ext uri="{FF2B5EF4-FFF2-40B4-BE49-F238E27FC236}">
                <a16:creationId xmlns:a16="http://schemas.microsoft.com/office/drawing/2014/main" id="{0566E338-5813-4A7B-B25C-CBD0BFDB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cash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Cash Watch</a:t>
            </a:r>
          </a:p>
        </p:txBody>
      </p:sp>
    </p:spTree>
    <p:extLst>
      <p:ext uri="{BB962C8B-B14F-4D97-AF65-F5344CB8AC3E}">
        <p14:creationId xmlns:p14="http://schemas.microsoft.com/office/powerpoint/2010/main" val="14270957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-12">
            <a:extLst xmlns:a="http://schemas.openxmlformats.org/drawingml/2006/main">
              <a:ext uri="{FF2B5EF4-FFF2-40B4-BE49-F238E27FC236}">
                <a16:creationId xmlns:a16="http://schemas.microsoft.com/office/drawing/2014/main" id="{5D9BDD84-1F5E-4BAD-ABE6-F752AA4C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312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4329B17F-5192-4DD9-A5C6-C9DA4C31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 2026: cash pressure reaches the year 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312CD-995F-4630-AE14-FD58910E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7d4965f684462"/>
          <a:stretch xmlns:a="http://schemas.openxmlformats.org/drawingml/2006/main"/>
        </p:blipFill>
        <p:spPr>
          <a:xfrm xmlns:a="http://schemas.openxmlformats.org/drawingml/2006/main">
            <a:off x="635647" y="1322451"/>
            <a:ext cx="5027398" cy="4784598"/>
          </a:xfrm>
          <a:prstGeom xmlns:a="http://schemas.openxmlformats.org/drawingml/2006/main" prst="rect">
            <a:avLst/>
          </a:prstGeom>
        </p:spPr>
      </p:pic>
      <p:sp>
        <p:nvSpPr>
          <p:cNvPr id="5" name="takeaway-11">
            <a:extLst xmlns:a="http://schemas.openxmlformats.org/drawingml/2006/main">
              <a:ext uri="{FF2B5EF4-FFF2-40B4-BE49-F238E27FC236}">
                <a16:creationId xmlns:a16="http://schemas.microsoft.com/office/drawing/2014/main" id="{75913397-F74C-43E7-888C-0E4BBFC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55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declines by $107.4; gross margin holds at 61.3%. cash declines by $493.8, while inventory draws down by 129,171 units. Cash remains the central board issue.</a:t>
            </a:r>
          </a:p>
        </p:txBody>
      </p:sp>
      <p:sp>
        <p:nvSpPr>
          <p:cNvPr id="6" name="stat-gm-11">
            <a:extLst xmlns:a="http://schemas.openxmlformats.org/drawingml/2006/main">
              <a:ext uri="{FF2B5EF4-FFF2-40B4-BE49-F238E27FC236}">
                <a16:creationId xmlns:a16="http://schemas.microsoft.com/office/drawing/2014/main" id="{72E7BC83-6D2A-4016-882F-F230206F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61.3%</a:t>
            </a:r>
          </a:p>
        </p:txBody>
      </p:sp>
      <p:sp>
        <p:nvSpPr>
          <p:cNvPr id="7" name="gm-label-11">
            <a:extLst xmlns:a="http://schemas.openxmlformats.org/drawingml/2006/main">
              <a:ext uri="{FF2B5EF4-FFF2-40B4-BE49-F238E27FC236}">
                <a16:creationId xmlns:a16="http://schemas.microsoft.com/office/drawing/2014/main" id="{C4CF9FD5-F444-4003-B385-9B119EEF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Gross margin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32.4% contribution margin</a:t>
            </a:r>
          </a:p>
        </p:txBody>
      </p:sp>
      <p:sp>
        <p:nvSpPr>
          <p:cNvPr id="8" name="stat-inventory-11">
            <a:extLst xmlns:a="http://schemas.openxmlformats.org/drawingml/2006/main">
              <a:ext uri="{FF2B5EF4-FFF2-40B4-BE49-F238E27FC236}">
                <a16:creationId xmlns:a16="http://schemas.microsoft.com/office/drawing/2014/main" id="{467A6F89-D6A6-4B8F-A167-A9676BF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392,851</a:t>
            </a:r>
          </a:p>
        </p:txBody>
      </p:sp>
      <p:sp>
        <p:nvSpPr>
          <p:cNvPr id="9" name="inventory-label-11">
            <a:extLst xmlns:a="http://schemas.openxmlformats.org/drawingml/2006/main">
              <a:ext uri="{FF2B5EF4-FFF2-40B4-BE49-F238E27FC236}">
                <a16:creationId xmlns:a16="http://schemas.microsoft.com/office/drawing/2014/main" id="{B414B31B-E84D-4DE2-9467-DBD7A0EB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4973003"/>
            <a:ext cx="206673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7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Ending inventory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stockout weeks</a:t>
            </a:r>
          </a:p>
        </p:txBody>
      </p:sp>
    </p:spTree>
    <p:extLst>
      <p:ext uri="{BB962C8B-B14F-4D97-AF65-F5344CB8AC3E}">
        <p14:creationId xmlns:p14="http://schemas.microsoft.com/office/powerpoint/2010/main" val="576717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2026-07-25T04:47:08.9040000Z</dcterms:created>
  <dcterms:modified xsi:type="dcterms:W3CDTF">2026-07-25T04:47:08.9040000Z</dcterms:modified>
</coreProperties>
</file>